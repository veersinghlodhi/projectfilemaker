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300" r:id="rId6"/>
    <p:sldId id="290" r:id="rId7"/>
    <p:sldId id="299" r:id="rId8"/>
    <p:sldId id="301" r:id="rId9"/>
    <p:sldId id="257" r:id="rId10"/>
    <p:sldId id="286" r:id="rId11"/>
    <p:sldId id="288" r:id="rId12"/>
    <p:sldId id="294" r:id="rId13"/>
    <p:sldId id="298" r:id="rId14"/>
    <p:sldId id="302" r:id="rId15"/>
    <p:sldId id="29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627990-0A61-4218-BB1F-6AD17FB49BF4}" v="38" dt="2025-09-26T13:11:55.704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5646" autoAdjust="0"/>
  </p:normalViewPr>
  <p:slideViewPr>
    <p:cSldViewPr snapToGrid="0">
      <p:cViewPr varScale="1">
        <p:scale>
          <a:sx n="78" d="100"/>
          <a:sy n="78" d="100"/>
        </p:scale>
        <p:origin x="869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F5FB-AD0E-AEE2-ABD6-14ECA0341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C73C4D-9E03-FE35-9F76-280BCC833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E03DC-5CB5-256A-1F79-136148726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53910-AE25-ACE7-BB4D-EA5047E26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605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7A9D1-9D17-88B5-CF38-E87819AE2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31030-468C-7EBA-BBAE-F76BE7BF9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607BF-0D32-A8D6-4730-5C694D2CE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C8BEA-A75D-786B-7640-C2E6EF5E6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773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9D673-E502-B8F6-5C5C-E2B38958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10947-6389-9604-07F9-A179C8DB9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097B9-3994-A59C-6D13-2C811485E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350E0-FB4F-EE2B-BAD7-08B18E234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966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5F5DA-1FC7-86E1-A3D8-ED602D83B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DA0E6-C3F4-7E95-BD14-AB654EC34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84E59-D519-1AFD-127E-F9B541409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B618F-8117-BB84-D010-4CFC9E661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91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6" r:id="rId9"/>
    <p:sldLayoutId id="2147483661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3156155"/>
            <a:ext cx="7096933" cy="906888"/>
          </a:xfrm>
        </p:spPr>
        <p:txBody>
          <a:bodyPr/>
          <a:lstStyle/>
          <a:p>
            <a:r>
              <a:rPr lang="en-US" dirty="0"/>
              <a:t>Git &amp; GitHub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C22CA-A366-0C83-95EF-ABEEDA5DD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370" y="5732375"/>
            <a:ext cx="2346640" cy="102398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3ECF8D7-DCAF-F6B6-E339-F094580D6F2A}"/>
              </a:ext>
            </a:extLst>
          </p:cNvPr>
          <p:cNvSpPr txBox="1">
            <a:spLocks/>
          </p:cNvSpPr>
          <p:nvPr/>
        </p:nvSpPr>
        <p:spPr>
          <a:xfrm>
            <a:off x="6344176" y="6053222"/>
            <a:ext cx="2346640" cy="3822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0" dirty="0"/>
              <a:t>By – Veer &amp; Ashwin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3F5ED-CF3B-852F-1047-79E25EDC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E31A-AF25-29CB-358B-7BFDE0E34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622" y="1386712"/>
            <a:ext cx="8303340" cy="7275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4200" dirty="0"/>
              <a:t>Setup</a:t>
            </a:r>
            <a:br>
              <a:rPr lang="en-US" sz="4200" dirty="0"/>
            </a:br>
            <a:r>
              <a:rPr lang="en-US" sz="2000" b="0" dirty="0"/>
              <a:t>Configuring user information used across all local repositories</a:t>
            </a:r>
            <a:endParaRPr lang="en-US" sz="48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D16F3-95BA-09E2-EE68-4E10747F3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6515" y="2710017"/>
            <a:ext cx="9271820" cy="93960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git config --global user.name “[firstname lastname]”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set a name that is identifiable for credit when review version history</a:t>
            </a:r>
            <a:endParaRPr lang="en-US" b="1" dirty="0"/>
          </a:p>
          <a:p>
            <a:pPr lvl="1"/>
            <a:endParaRPr lang="en-US" sz="1600" b="1" dirty="0"/>
          </a:p>
          <a:p>
            <a:pPr lvl="1"/>
            <a:endParaRPr lang="en-US" sz="1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C5CBA0-2ED4-B5FA-F91C-8A732273A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52373"/>
            <a:ext cx="2153263" cy="939605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EA62387-4F24-42CF-63DD-B98BA04C3B9F}"/>
              </a:ext>
            </a:extLst>
          </p:cNvPr>
          <p:cNvSpPr txBox="1">
            <a:spLocks/>
          </p:cNvSpPr>
          <p:nvPr/>
        </p:nvSpPr>
        <p:spPr>
          <a:xfrm>
            <a:off x="1376515" y="3875139"/>
            <a:ext cx="9271820" cy="9396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git config --global user.email “[valid-email]”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set an email address that will be associated with each history marker</a:t>
            </a:r>
            <a:endParaRPr lang="en-US" sz="1600" b="1" dirty="0"/>
          </a:p>
          <a:p>
            <a:pPr lvl="1"/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6867348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020" y="215182"/>
            <a:ext cx="9601200" cy="1653371"/>
          </a:xfrm>
        </p:spPr>
        <p:txBody>
          <a:bodyPr/>
          <a:lstStyle/>
          <a:p>
            <a:r>
              <a:rPr lang="en-IN" dirty="0"/>
              <a:t>Workflow Example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8009BF-2262-BF2F-FC40-349738B75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0" y="5781869"/>
            <a:ext cx="2153263" cy="93960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001" y="2112474"/>
            <a:ext cx="6305025" cy="3332832"/>
          </a:xfrm>
        </p:spPr>
        <p:txBody>
          <a:bodyPr/>
          <a:lstStyle/>
          <a:p>
            <a:r>
              <a:rPr lang="en-US" sz="3200" dirty="0"/>
              <a:t>1. Create repository (GitHub)</a:t>
            </a:r>
          </a:p>
          <a:p>
            <a:r>
              <a:rPr lang="en-US" sz="3200" dirty="0"/>
              <a:t>2. Clone repository (Git)</a:t>
            </a:r>
          </a:p>
          <a:p>
            <a:r>
              <a:rPr lang="en-US" sz="3200" dirty="0"/>
              <a:t>3. Make changes → add + commit</a:t>
            </a:r>
          </a:p>
          <a:p>
            <a:r>
              <a:rPr lang="en-US" sz="3200" dirty="0"/>
              <a:t>4. Push changes → GitHub</a:t>
            </a:r>
          </a:p>
          <a:p>
            <a:r>
              <a:rPr lang="en-US" sz="3200" dirty="0"/>
              <a:t>5. Team members pull updates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C0504C-C71B-8435-B5C0-F46225935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033" y="1708009"/>
            <a:ext cx="2861187" cy="286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A24905-945B-3080-E1AF-9CB69F6CD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A055-A770-A934-529B-A14C32D6D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76" y="462115"/>
            <a:ext cx="5567603" cy="792161"/>
          </a:xfrm>
        </p:spPr>
        <p:txBody>
          <a:bodyPr/>
          <a:lstStyle/>
          <a:p>
            <a:r>
              <a:rPr lang="en-US" dirty="0"/>
              <a:t>Git Commands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449A72-3E94-65A4-600B-5B580C36C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003" y="1396592"/>
            <a:ext cx="8802416" cy="438527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git init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git init initialize an existing directory as a Git repository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b="1" dirty="0"/>
              <a:t>git clone [url]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retrieve an entire repository from a hosted location via URL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b="1" dirty="0"/>
              <a:t>git status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show modified files in working directory, staged for your next commit</a:t>
            </a:r>
            <a:endParaRPr lang="en-I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b="1" dirty="0"/>
              <a:t>git add [file]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add a file as it looks now to your next commit (stage)</a:t>
            </a:r>
            <a:endParaRPr lang="en-I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b="1" dirty="0"/>
              <a:t>git commit -m “[descriptive message]”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commit your staged content as a new commit snapshot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A4E62F-D9A7-DBFF-24E3-266C43CEC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385" y="5781869"/>
            <a:ext cx="2153263" cy="93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5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A0B5D-C27E-3020-E9C6-D882D915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B8AB-9F2B-8BC9-0053-B3B5EFE4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76" y="462115"/>
            <a:ext cx="5567603" cy="792161"/>
          </a:xfrm>
        </p:spPr>
        <p:txBody>
          <a:bodyPr/>
          <a:lstStyle/>
          <a:p>
            <a:r>
              <a:rPr lang="en-US" dirty="0"/>
              <a:t>Git Commands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3B731B-CEF3-9AF0-D844-9EE686259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003" y="1396592"/>
            <a:ext cx="8802416" cy="438527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git Log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show the commit history for the currently active branch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b="1" dirty="0"/>
              <a:t>git remote add [alias] [url]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show modified files in working directory, staged for your next commit</a:t>
            </a:r>
            <a:endParaRPr lang="en-I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b="1" dirty="0"/>
              <a:t>git remote -v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show all remote repositories with their fetch and push URLs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git push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show the commit history for the currently active branch </a:t>
            </a:r>
          </a:p>
          <a:p>
            <a:pPr lvl="1"/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7B33D8-5FEA-9537-C659-6BC86267C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385" y="5781869"/>
            <a:ext cx="2153263" cy="93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2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916" y="259333"/>
            <a:ext cx="9779183" cy="1744415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/>
              <a:t>Branch?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909" y="2399935"/>
            <a:ext cx="7178891" cy="22497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A branch is a separate line of development in a Git project.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It allows you to work on new features or fixes without affecting the main codebase.</a:t>
            </a:r>
          </a:p>
        </p:txBody>
      </p:sp>
      <p:pic>
        <p:nvPicPr>
          <p:cNvPr id="4" name="Picture Placeholder 7">
            <a:extLst>
              <a:ext uri="{FF2B5EF4-FFF2-40B4-BE49-F238E27FC236}">
                <a16:creationId xmlns:a16="http://schemas.microsoft.com/office/drawing/2014/main" id="{324C92FB-D61B-9130-A283-E1B5E26644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71" r="12671"/>
          <a:stretch>
            <a:fillRect/>
          </a:stretch>
        </p:blipFill>
        <p:spPr>
          <a:xfrm>
            <a:off x="8238569" y="1846436"/>
            <a:ext cx="2699478" cy="27118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B259C1-F205-3B2D-1CFD-A7067C7D0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37" y="5816374"/>
            <a:ext cx="2153263" cy="939605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FAF57B79-7194-603A-D658-5C6963D21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features or bug fixes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176" y="1247478"/>
            <a:ext cx="5855516" cy="850491"/>
          </a:xfrm>
        </p:spPr>
        <p:txBody>
          <a:bodyPr/>
          <a:lstStyle/>
          <a:p>
            <a:r>
              <a:rPr lang="en-IN" sz="4200" dirty="0"/>
              <a:t>Why We Use Branch?</a:t>
            </a:r>
            <a:endParaRPr lang="en-US" sz="420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0AF5B8F-4C65-DA10-A9A2-A2D8DA57A4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2671" r="12671"/>
          <a:stretch>
            <a:fillRect/>
          </a:stretch>
        </p:blipFill>
        <p:spPr>
          <a:xfrm>
            <a:off x="7617560" y="1328603"/>
            <a:ext cx="3931701" cy="394973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AA1BB0D-4F6F-7039-26E1-A05598477F41}"/>
              </a:ext>
            </a:extLst>
          </p:cNvPr>
          <p:cNvSpPr txBox="1">
            <a:spLocks/>
          </p:cNvSpPr>
          <p:nvPr/>
        </p:nvSpPr>
        <p:spPr>
          <a:xfrm>
            <a:off x="642739" y="2684477"/>
            <a:ext cx="6417566" cy="176135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0" dirty="0"/>
              <a:t>Separate line of project development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/>
              <a:t>Default branch is main/master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/>
              <a:t>Used for features or bug fixes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0" dirty="0"/>
              <a:t>Can Merge Branch into Main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9E4C19-ADF5-10CD-3F8E-20960FF91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1385" y="5781869"/>
            <a:ext cx="2153263" cy="93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34" y="1371600"/>
            <a:ext cx="5120640" cy="727587"/>
          </a:xfrm>
        </p:spPr>
        <p:txBody>
          <a:bodyPr/>
          <a:lstStyle/>
          <a:p>
            <a:r>
              <a:rPr lang="en-US" sz="4200" dirty="0"/>
              <a:t>What is Merging?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8142" y="2503537"/>
            <a:ext cx="7157884" cy="185092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Merging combines changes from one branch into another.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updates the target branch with the new commits.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Used to integrate features or bug fixes into main.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1D5F8AF-B74B-AD8B-0C2C-F56F98A1D2C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28" r="228"/>
          <a:stretch>
            <a:fillRect/>
          </a:stretch>
        </p:blipFill>
        <p:spPr>
          <a:xfrm>
            <a:off x="638767" y="1448743"/>
            <a:ext cx="3805414" cy="382286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E49CA1-997F-6C55-2B9A-F16677154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52373"/>
            <a:ext cx="2153263" cy="93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0497" y="575183"/>
            <a:ext cx="5943599" cy="1920240"/>
          </a:xfrm>
        </p:spPr>
        <p:txBody>
          <a:bodyPr/>
          <a:lstStyle/>
          <a:p>
            <a:r>
              <a:rPr lang="en-US" dirty="0"/>
              <a:t>Problems While Merging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660EF8-63BD-1588-ED35-C14C2BC03E8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/>
          <a:stretch>
            <a:fillRect/>
          </a:stretch>
        </p:blipFill>
        <p:spPr>
          <a:xfrm>
            <a:off x="804248" y="1579380"/>
            <a:ext cx="3562124" cy="26681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9899" y="2706688"/>
            <a:ext cx="6533945" cy="3382962"/>
          </a:xfrm>
        </p:spPr>
        <p:txBody>
          <a:bodyPr>
            <a:normAutofit/>
          </a:bodyPr>
          <a:lstStyle/>
          <a:p>
            <a:r>
              <a:rPr lang="en-IN" sz="2800" dirty="0"/>
              <a:t>Merge conflicts</a:t>
            </a:r>
          </a:p>
          <a:p>
            <a:r>
              <a:rPr lang="en-IN" sz="2800" dirty="0"/>
              <a:t>Overwritten changes</a:t>
            </a:r>
          </a:p>
          <a:p>
            <a:r>
              <a:rPr lang="en-IN" sz="2800" dirty="0"/>
              <a:t>Unrelated histories</a:t>
            </a:r>
            <a:endParaRPr lang="en-US" sz="2800" dirty="0"/>
          </a:p>
          <a:p>
            <a:r>
              <a:rPr lang="en-IN" sz="2800" dirty="0"/>
              <a:t>Complex merge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092EB0-D2FA-55EA-2C8B-378AAA49E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1385" y="5781869"/>
            <a:ext cx="2153263" cy="93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836" y="254510"/>
            <a:ext cx="9779183" cy="1570038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BA8C9F-8ADC-8108-5E2A-143EA5E3A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835" y="2075000"/>
            <a:ext cx="9779182" cy="336681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Pull and merge frequently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 smaller branches for each feature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Communicate with team before big merges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Review code before merging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Conflicts are natural, not errors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Proper resolution keeps code safe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3A6D89-C9E5-45E2-2AD6-EC9CB1914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385" y="5781869"/>
            <a:ext cx="2153263" cy="93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B3438-FC87-4FB5-EF0F-9EB1B567E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141E8-13D0-344D-9D93-F8917AD1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76" y="462115"/>
            <a:ext cx="5567603" cy="792161"/>
          </a:xfrm>
        </p:spPr>
        <p:txBody>
          <a:bodyPr/>
          <a:lstStyle/>
          <a:p>
            <a:r>
              <a:rPr lang="en-US" dirty="0"/>
              <a:t>Git Commands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63A323-693C-33A9-978A-FFCE88F96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003" y="1396592"/>
            <a:ext cx="8802416" cy="438527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git checkout &lt;Branch_Name&gt;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switches your working directory to the specified branch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b="1" dirty="0"/>
              <a:t>Git Branch &lt;Branch_Name&gt;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creates a new branch named &lt;Branch_Name&gt;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b="1" dirty="0"/>
              <a:t>Git checkout –b main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creates a new branch named main and switches to it immediately it</a:t>
            </a:r>
            <a:endParaRPr lang="en-I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b="1" dirty="0"/>
              <a:t>git branch main1 main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creates a new branch named main1 starting from the commit currently pointed to by the main branch</a:t>
            </a:r>
            <a:endParaRPr lang="en-I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b="1" dirty="0"/>
              <a:t>git commit -m “[descriptive message]”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commit your staged content as a new commit snapshot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8F27BB-1BF9-6A67-A655-FC9254612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385" y="5781869"/>
            <a:ext cx="2153263" cy="93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7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/>
          <a:lstStyle/>
          <a:p>
            <a:r>
              <a:rPr lang="en-US" dirty="0"/>
              <a:t>Xansa IT Solutions</a:t>
            </a:r>
          </a:p>
          <a:p>
            <a:r>
              <a:rPr lang="en-US" dirty="0"/>
              <a:t>www.xansa.net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519F53-E699-405D-A536-7C225D8B6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525" y="5737745"/>
            <a:ext cx="2379404" cy="103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297</TotalTime>
  <Words>490</Words>
  <Application>Microsoft Office PowerPoint</Application>
  <PresentationFormat>Widescreen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Tenorite</vt:lpstr>
      <vt:lpstr>Custom</vt:lpstr>
      <vt:lpstr>Git &amp; GitHub</vt:lpstr>
      <vt:lpstr>Setup Configuring user information used across all local repositories</vt:lpstr>
      <vt:lpstr>Workflow Example</vt:lpstr>
      <vt:lpstr>Git Commands</vt:lpstr>
      <vt:lpstr>Git Commands</vt:lpstr>
      <vt:lpstr>What is Branch?</vt:lpstr>
      <vt:lpstr>Why We Use Branch?</vt:lpstr>
      <vt:lpstr>What is Merging?</vt:lpstr>
      <vt:lpstr>Problems While Merging</vt:lpstr>
      <vt:lpstr>Conclusion</vt:lpstr>
      <vt:lpstr>Git Commands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Veer Singh Lodhi</dc:creator>
  <cp:lastModifiedBy>Veer Singh Lodhi</cp:lastModifiedBy>
  <cp:revision>10</cp:revision>
  <dcterms:created xsi:type="dcterms:W3CDTF">2025-08-29T06:27:23Z</dcterms:created>
  <dcterms:modified xsi:type="dcterms:W3CDTF">2025-09-27T09:59:00Z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